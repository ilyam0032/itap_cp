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6858000" cy="91440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ru-RU" sz="1800" b="0" i="0">
        <a:solidFill>
          <a:schemeClr val="dk1"/>
        </a:solidFill>
        <a:latin typeface="Arial"/>
        <a:ea typeface="Arial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ru-RU" sz="1800" b="0" i="0">
        <a:solidFill>
          <a:schemeClr val="dk1"/>
        </a:solidFill>
        <a:latin typeface="Arial"/>
        <a:ea typeface="Arial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ru-RU" sz="1800" b="0" i="0">
        <a:solidFill>
          <a:schemeClr val="dk1"/>
        </a:solidFill>
        <a:latin typeface="Arial"/>
        <a:ea typeface="Arial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ru-RU" sz="1800" b="0" i="0">
        <a:solidFill>
          <a:schemeClr val="dk1"/>
        </a:solidFill>
        <a:latin typeface="Arial"/>
        <a:ea typeface="Arial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ru-RU" sz="1800" b="0" i="0">
        <a:solidFill>
          <a:schemeClr val="dk1"/>
        </a:solidFill>
        <a:latin typeface="Arial"/>
        <a:ea typeface="Arial"/>
      </a:defRPr>
    </a:lvl5pPr>
    <a:lvl6pPr>
      <a:defRPr lang="ru-RU" sz="1800"/>
    </a:lvl6pPr>
    <a:lvl7pPr>
      <a:defRPr lang="ru-RU" sz="1800"/>
    </a:lvl7pPr>
    <a:lvl8pPr>
      <a:defRPr lang="ru-RU" sz="1800"/>
    </a:lvl8pPr>
    <a:lvl9pPr>
      <a:defRPr lang="ru-RU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944040" name="Верхний колонтитул 1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1732397573" name="Дата 2"/>
          <p:cNvSpPr>
            <a:spLocks noChangeShapeType="1" noGrp="1"/>
          </p:cNvSpPr>
          <p:nvPr>
            <p:ph type="dt" idx="1"/>
          </p:nvPr>
        </p:nvSpPr>
        <p:spPr bwMode="auto">
          <a:xfrm>
            <a:off x="3884612" y="0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753265356" name="Образ слайда 3"/>
          <p:cNvSpPr>
            <a:spLocks noChangeShapeType="1" noGrp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08368579" name="Заметки 4"/>
          <p:cNvSpPr>
            <a:spLocks noChangeShapeType="1" noGrp="1"/>
          </p:cNvSpPr>
          <p:nvPr>
            <p:ph type="body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Образец текста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/>
              <a:t>Второй уровень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/>
              <a:t>Третий уровень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/>
              <a:t>Четвертый уровень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1002451401" name="Нижний колонтитул 5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685212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099649803" name="Номер слайда 6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884612" y="8685212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ru-RU"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622311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359467035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397553336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2" y="8685212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D038279B-FC19-497E-A7D1-5ADD9CAF016F}" type="slidenum">
              <a:rPr lang="ru-RU">
                <a:latin typeface="Arial"/>
                <a:ea typeface="Arial"/>
              </a:rPr>
              <a:t>*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158977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203592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473404357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2" y="8685212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D038279B-FC19-497E-A7D1-5ADD9CAF016F}" type="slidenum">
              <a:rPr lang="ru-RU">
                <a:latin typeface="Arial"/>
                <a:ea typeface="Arial"/>
              </a:rPr>
              <a:t>*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95641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57351463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57514066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D987A092-F3EB-4664-2736-DEC25AF415AD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379708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188387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789507030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6D2E4178-3CEB-2DA7-D576-601820DBFF0D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04791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00024343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368083657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215E0489-1411-857E-5F85-425DB41CCA0C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594291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955544633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768084622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28002F19-A7C0-7C22-ED4B-C90B67D2A22A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189975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58386776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110524788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4B0C7CD3-8A58-17B0-CBE8-99BDCAE303B1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72351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916483660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243911539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60B4B12B-0C60-852F-8500-E994BED23B98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465883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497934736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643555531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74BC42B7-251A-4190-8B2A-EA27B0DA08ED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980125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122848776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071479822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5BD59985-570F-1A31-37AE-D420E133E958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332355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47280034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466516851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A58412FB-63E5-E30E-2698-BFE8A4B3DABB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486404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589489151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071519775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BD9E3556-CD61-C67E-C4DF-EE448DA5A1FB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447948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728177692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284213203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1388BB8A-8AA6-439C-DC72-FABC66D8B8B6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953374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767656228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2057988481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0725A5D6-D14B-C68F-7A03-A2BDD938E9F4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620412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123262945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73053911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989DC59E-BEEC-18C3-008C-0A21928A0B6E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799259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987992484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876496470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560825CD-98F4-75C3-E91A-04CD7D2653F0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982255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847343194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947062238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AFC20565-CBBF-63B7-8A72-B7E79C4D742B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62320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805380347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475025673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E05EC17F-EB09-BB28-D7EF-2DA289CA1F14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633222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02547046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1701992140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4C1D2F81-2A42-59E4-C90A-86BDDCEE2D59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179023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52279922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601305383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4C8EE53A-A144-738C-83B2-C8A01D041451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774316" name="Образ слайда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4">
            <a:solidFill>
              <a:srgbClr val="000000"/>
            </a:solidFill>
            <a:miter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44396718" name="Заметки 2"/>
          <p:cNvSpPr>
            <a:spLocks noChangeShapeType="1"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lvl="0">
              <a:spcBef>
                <a:spcPts val="0"/>
              </a:spcBef>
              <a:defRPr/>
            </a:pPr>
            <a:r>
              <a:rPr lang="ru-RU"/>
              <a:t>Красным обозначены места для проверки и указания своих данных.</a:t>
            </a:r>
            <a:endParaRPr/>
          </a:p>
          <a:p>
            <a:pPr lvl="0">
              <a:spcBef>
                <a:spcPts val="0"/>
              </a:spcBef>
              <a:defRPr/>
            </a:pPr>
            <a:endParaRPr lang="en-US"/>
          </a:p>
          <a:p>
            <a:pPr lvl="0">
              <a:spcBef>
                <a:spcPts val="0"/>
              </a:spcBef>
              <a:defRPr/>
            </a:pPr>
            <a:r>
              <a:rPr lang="ru-RU"/>
              <a:t>Цвет шрифта презентации – черный.</a:t>
            </a:r>
            <a:endParaRPr/>
          </a:p>
        </p:txBody>
      </p:sp>
      <p:sp>
        <p:nvSpPr>
          <p:cNvPr id="450461327" name="Номер слайда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84611" y="8685211"/>
            <a:ext cx="29718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spcBef>
                <a:spcPts val="0"/>
              </a:spcBef>
              <a:defRPr/>
            </a:pPr>
            <a:fld id="{F33D45DD-48EC-BBD0-5577-49058DD809A2}" type="slidenum">
              <a:rPr lang="ru-RU">
                <a:latin typeface="Arial"/>
                <a:ea typeface="Arial"/>
              </a:rPr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66224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51274553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 lang="ru-RU"/>
              <a:t>Образец текста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ru-RU"/>
              <a:t>Второй уровень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ru-RU"/>
              <a:t>Четвертый уровень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94591638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2138351486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16451826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ru-RU" sz="1200">
                <a:solidFill>
                  <a:srgbClr val="898989"/>
                </a:solidFill>
                <a:latin typeface="Calibri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241539" name="Заголовок 1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79047846" name="Текст 2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 lang="ru-RU"/>
              <a:t>Образец текста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ru-RU"/>
              <a:t>Второй уровень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ru-RU"/>
              <a:t>Четвертый уровень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6393840" name="Дата 3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1200">
                <a:solidFill>
                  <a:srgbClr val="898989"/>
                </a:solidFill>
                <a:latin typeface="Calibri"/>
              </a:rPr>
              <a:t>*</a:t>
            </a:r>
            <a:endParaRPr/>
          </a:p>
        </p:txBody>
      </p:sp>
      <p:sp>
        <p:nvSpPr>
          <p:cNvPr id="807693020" name="Нижний колонтитул 4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76135546" name="Номер слайда 5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ru-RU" sz="1200">
                <a:solidFill>
                  <a:srgbClr val="898989"/>
                </a:solidFill>
                <a:latin typeface="Calibri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4400" b="0" i="0">
          <a:solidFill>
            <a:schemeClr val="dk1"/>
          </a:solidFill>
          <a:latin typeface="Calibri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4400" b="0" i="0">
          <a:solidFill>
            <a:schemeClr val="dk1"/>
          </a:solidFill>
          <a:latin typeface="Calibri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4400" b="0" i="0">
          <a:solidFill>
            <a:schemeClr val="dk1"/>
          </a:solidFill>
          <a:latin typeface="Calibri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4400" b="0" i="0">
          <a:solidFill>
            <a:schemeClr val="dk1"/>
          </a:solidFill>
          <a:latin typeface="Calibri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4400" b="0" i="0">
          <a:solidFill>
            <a:schemeClr val="dk1"/>
          </a:solidFill>
          <a:latin typeface="Calibri"/>
        </a:defRPr>
      </a:lvl5pPr>
      <a:lvl6pPr>
        <a:defRPr lang="ru-RU" sz="1800"/>
      </a:lvl6pPr>
      <a:lvl7pPr>
        <a:defRPr lang="ru-RU" sz="1800"/>
      </a:lvl7pPr>
      <a:lvl8pPr>
        <a:defRPr lang="ru-RU" sz="1800"/>
      </a:lvl8pPr>
      <a:lvl9pPr>
        <a:defRPr lang="ru-RU" sz="1800"/>
      </a:lvl9pPr>
    </p:titleStyle>
    <p:bodyStyle>
      <a:lvl1pPr marL="342900" indent="0" algn="l" defTabSz="914400" rtl="0">
        <a:lnSpc>
          <a:spcPct val="100000"/>
        </a:lnSpc>
        <a:spcBef>
          <a:spcPts val="0"/>
        </a:spcBef>
        <a:spcAft>
          <a:spcPts val="0"/>
        </a:spcAft>
        <a:buFont typeface="Arial"/>
        <a:buChar char="•"/>
        <a:defRPr lang="ru-RU" sz="3200" b="0" i="0">
          <a:solidFill>
            <a:schemeClr val="dk1"/>
          </a:solidFill>
          <a:latin typeface="Calibri"/>
        </a:defRPr>
      </a:lvl1pPr>
      <a:lvl2pPr marL="742950" indent="457200" algn="l" defTabSz="914400" rtl="0">
        <a:lnSpc>
          <a:spcPct val="100000"/>
        </a:lnSpc>
        <a:spcBef>
          <a:spcPts val="0"/>
        </a:spcBef>
        <a:spcAft>
          <a:spcPts val="0"/>
        </a:spcAft>
        <a:buChar char="–"/>
        <a:defRPr lang="ru-RU" sz="2800" b="0" i="0">
          <a:solidFill>
            <a:schemeClr val="dk1"/>
          </a:solidFill>
          <a:latin typeface="Calibri"/>
        </a:defRPr>
      </a:lvl2pPr>
      <a:lvl3pPr marL="1143000" indent="914400" algn="l" defTabSz="914400" rtl="0">
        <a:lnSpc>
          <a:spcPct val="100000"/>
        </a:lnSpc>
        <a:spcBef>
          <a:spcPts val="0"/>
        </a:spcBef>
        <a:spcAft>
          <a:spcPts val="0"/>
        </a:spcAft>
        <a:buChar char="•"/>
        <a:defRPr lang="ru-RU" sz="2400" b="0" i="0">
          <a:solidFill>
            <a:schemeClr val="dk1"/>
          </a:solidFill>
          <a:latin typeface="Calibri"/>
        </a:defRPr>
      </a:lvl3pPr>
      <a:lvl4pPr marL="16002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Char char="–"/>
        <a:defRPr lang="ru-RU" sz="2000" b="0" i="0">
          <a:solidFill>
            <a:schemeClr val="dk1"/>
          </a:solidFill>
          <a:latin typeface="Calibri"/>
        </a:defRPr>
      </a:lvl4pPr>
      <a:lvl5pPr marL="20574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Char char="»"/>
        <a:defRPr lang="ru-RU" sz="2000" b="0" i="0">
          <a:solidFill>
            <a:schemeClr val="dk1"/>
          </a:solidFill>
          <a:latin typeface="Calibri"/>
        </a:defRPr>
      </a:lvl5pPr>
      <a:lvl6pPr>
        <a:defRPr lang="ru-RU" sz="1800"/>
      </a:lvl6pPr>
      <a:lvl7pPr>
        <a:defRPr lang="ru-RU" sz="1800"/>
      </a:lvl7pPr>
      <a:lvl8pPr>
        <a:defRPr lang="ru-RU" sz="1800"/>
      </a:lvl8pPr>
      <a:lvl9pPr>
        <a:defRPr lang="ru-RU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1800" b="0" i="0">
          <a:solidFill>
            <a:schemeClr val="dk1"/>
          </a:solidFill>
          <a:latin typeface="Arial"/>
          <a:ea typeface="Arial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1800" b="0" i="0">
          <a:solidFill>
            <a:schemeClr val="dk1"/>
          </a:solidFill>
          <a:latin typeface="Arial"/>
          <a:ea typeface="Arial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1800" b="0" i="0">
          <a:solidFill>
            <a:schemeClr val="dk1"/>
          </a:solidFill>
          <a:latin typeface="Arial"/>
          <a:ea typeface="Arial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1800" b="0" i="0">
          <a:solidFill>
            <a:schemeClr val="dk1"/>
          </a:solidFill>
          <a:latin typeface="Arial"/>
          <a:ea typeface="Arial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ru-RU" sz="1800" b="0" i="0">
          <a:solidFill>
            <a:schemeClr val="dk1"/>
          </a:solidFill>
          <a:latin typeface="Arial"/>
          <a:ea typeface="Arial"/>
        </a:defRPr>
      </a:lvl5pPr>
      <a:lvl6pPr>
        <a:defRPr lang="ru-RU" sz="1800"/>
      </a:lvl6pPr>
      <a:lvl7pPr>
        <a:defRPr lang="ru-RU" sz="1800"/>
      </a:lvl7pPr>
      <a:lvl8pPr>
        <a:defRPr lang="ru-RU" sz="1800"/>
      </a:lvl8pPr>
      <a:lvl9pPr>
        <a:defRPr lang="ru-RU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635726" name="Rectangle 2"/>
          <p:cNvSpPr txBox="1">
            <a:spLocks noChangeShapeType="1" noGrp="1"/>
          </p:cNvSpPr>
          <p:nvPr/>
        </p:nvSpPr>
        <p:spPr bwMode="auto">
          <a:xfrm>
            <a:off x="0" y="3586162"/>
            <a:ext cx="9144000" cy="635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sz="1600">
                <a:latin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sp>
        <p:nvSpPr>
          <p:cNvPr id="982008273" name="Rectangle 3"/>
          <p:cNvSpPr txBox="1">
            <a:spLocks noChangeShapeType="1" noGrp="1"/>
          </p:cNvSpPr>
          <p:nvPr/>
        </p:nvSpPr>
        <p:spPr bwMode="auto">
          <a:xfrm>
            <a:off x="0" y="6021387"/>
            <a:ext cx="9144000" cy="7794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ru-RU" sz="1400">
                <a:latin typeface="Times New Roman"/>
                <a:ea typeface="Times New Roman"/>
              </a:rPr>
              <a:t>Санкт-Петербург</a:t>
            </a:r>
            <a:endParaRPr/>
          </a:p>
          <a:p>
            <a:pPr marL="0" lv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ru-RU" sz="1400">
                <a:latin typeface="Times New Roman"/>
                <a:ea typeface="Times New Roman"/>
              </a:rPr>
              <a:t>20</a:t>
            </a:r>
            <a:r>
              <a:rPr lang="ru-RU" sz="1400">
                <a:solidFill>
                  <a:schemeClr val="tx1"/>
                </a:solidFill>
                <a:latin typeface="Times New Roman"/>
                <a:ea typeface="Times New Roman"/>
              </a:rPr>
              <a:t>26</a:t>
            </a:r>
            <a:endParaRPr/>
          </a:p>
        </p:txBody>
      </p:sp>
      <p:sp>
        <p:nvSpPr>
          <p:cNvPr id="128285096" name="Rectangle 4"/>
          <p:cNvSpPr>
            <a:spLocks noChangeShapeType="1" noGrp="1"/>
          </p:cNvSpPr>
          <p:nvPr/>
        </p:nvSpPr>
        <p:spPr bwMode="auto">
          <a:xfrm>
            <a:off x="1006474" y="0"/>
            <a:ext cx="7815262" cy="1125537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400">
                <a:latin typeface="Times New Roman"/>
                <a:ea typeface="Times New Roman"/>
              </a:rPr>
              <a:t>Минобрнауки России</a:t>
            </a:r>
            <a:endParaRPr/>
          </a:p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400">
                <a:latin typeface="Times New Roman"/>
                <a:ea typeface="Times New Roman"/>
              </a:rPr>
              <a:t>федеральное государственное бюджетное образовательное учреждение высшего образования</a:t>
            </a:r>
            <a:endParaRPr/>
          </a:p>
          <a:p>
            <a:pPr marL="342900" lvl="0" indent="-34290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1400">
                <a:latin typeface="Times New Roman"/>
                <a:ea typeface="Times New Roman"/>
              </a:rPr>
              <a:t>Санкт-Петербургский государственный технологический институт (технический университет)</a:t>
            </a:r>
            <a:endParaRPr/>
          </a:p>
        </p:txBody>
      </p:sp>
      <p:sp>
        <p:nvSpPr>
          <p:cNvPr id="1639729463" name="Rectangle 8"/>
          <p:cNvSpPr>
            <a:spLocks noChangeShapeType="1" noGrp="1"/>
          </p:cNvSpPr>
          <p:nvPr/>
        </p:nvSpPr>
        <p:spPr bwMode="auto">
          <a:xfrm>
            <a:off x="0" y="2636837"/>
            <a:ext cx="9144000" cy="923925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ru-RU" sz="1800" b="1" i="0" u="none">
                <a:latin typeface="Times New Roman"/>
                <a:ea typeface="Times New Roman"/>
              </a:rPr>
              <a:t>КУРСОВОЙ ПРОЕКТ ПО ДИСЦИПЛИНЕ</a:t>
            </a:r>
            <a:endParaRPr/>
          </a:p>
          <a:p>
            <a:pPr marL="0" lv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ru-RU" sz="1800" b="1" i="0" u="none">
                <a:latin typeface="Times New Roman"/>
                <a:ea typeface="Times New Roman"/>
              </a:rPr>
              <a:t>«ИНФОРМАЦИОННЫЕ ТЕХНОЛОГИИ И ПРОГРАММИРОВАНИЕ»</a:t>
            </a:r>
            <a:endParaRPr/>
          </a:p>
        </p:txBody>
      </p:sp>
      <p:sp>
        <p:nvSpPr>
          <p:cNvPr id="1779915862" name="Rectangle 1222"/>
          <p:cNvSpPr>
            <a:spLocks noChangeShapeType="1" noGrp="1"/>
          </p:cNvSpPr>
          <p:nvPr/>
        </p:nvSpPr>
        <p:spPr bwMode="auto">
          <a:xfrm>
            <a:off x="1082675" y="2781300"/>
            <a:ext cx="184150" cy="3698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805158848" name="Rectangle 1224"/>
          <p:cNvSpPr>
            <a:spLocks noChangeShapeType="1" noGrp="1"/>
          </p:cNvSpPr>
          <p:nvPr/>
        </p:nvSpPr>
        <p:spPr bwMode="auto">
          <a:xfrm>
            <a:off x="1082675" y="2781300"/>
            <a:ext cx="184150" cy="3698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2037147460" name="Rectangle 2"/>
          <p:cNvSpPr>
            <a:spLocks noChangeShapeType="1" noGrp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884043867" name="Rectangle 4"/>
          <p:cNvSpPr>
            <a:spLocks noChangeShapeType="1" noGrp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>
              <a:defRPr/>
            </a:pPr>
            <a:endParaRPr sz="1400"/>
          </a:p>
        </p:txBody>
      </p:sp>
      <p:graphicFrame>
        <p:nvGraphicFramePr>
          <p:cNvPr id="931568664" name="Group 103"/>
          <p:cNvGraphicFramePr>
            <a:graphicFrameLocks xmlns:a="http://schemas.openxmlformats.org/drawingml/2006/main" noGrp="1"/>
          </p:cNvGraphicFramePr>
          <p:nvPr/>
        </p:nvGraphicFramePr>
        <p:xfrm rot="0">
          <a:off x="107949" y="4438650"/>
          <a:ext cx="9036050" cy="1006476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728107"/>
                <a:gridCol w="7307943"/>
              </a:tblGrid>
              <a:tr h="503238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  <a:defRPr/>
                      </a:pPr>
                      <a:r>
                        <a:rPr lang="ru-RU" sz="18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Обучающийся</a:t>
                      </a:r>
                      <a:endParaRPr/>
                    </a:p>
                  </a:txBody>
                  <a:tcPr marL="91435" marR="91435" marT="45749" marB="45749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  <a:defRPr/>
                      </a:pPr>
                      <a:r>
                        <a:rPr lang="ru-RU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студент гр.</a:t>
                      </a:r>
                      <a:r>
                        <a:rPr lang="en-US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b="0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4503</a:t>
                      </a:r>
                      <a:r>
                        <a:rPr lang="en-US" sz="1800" b="0" i="0" u="none" strike="noStrike" cap="none">
                          <a:ln>
                            <a:noFill/>
                          </a:ln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8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Малый Илья Романович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49" marB="45749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  <a:tr h="503238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ct val="75000"/>
                        <a:buFont typeface="Wingdings"/>
                        <a:buNone/>
                        <a:defRPr/>
                      </a:pPr>
                      <a:r>
                        <a:rPr lang="ru-RU" sz="18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Руководитель </a:t>
                      </a:r>
                      <a:endParaRPr/>
                    </a:p>
                  </a:txBody>
                  <a:tcPr marL="91435" marR="91435" marT="45749" marB="45749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bg2"/>
                        </a:buClr>
                        <a:buSzPct val="75000"/>
                        <a:buFontTx/>
                        <a:buNone/>
                        <a:defRPr/>
                      </a:pPr>
                      <a:r>
                        <a:rPr lang="ru-RU" sz="1800" b="1" i="0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Доцент, Корниенко Иван Григорьевич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35" marR="91435" marT="45749" marB="45749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75221877" name="Picture 108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107949" y="1412875"/>
            <a:ext cx="900112" cy="749300"/>
          </a:xfrm>
          <a:prstGeom prst="rect">
            <a:avLst/>
          </a:prstGeom>
          <a:noFill/>
        </p:spPr>
      </p:pic>
      <p:pic>
        <p:nvPicPr>
          <p:cNvPr id="1775569941" name="Picture 23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250825" y="115887"/>
            <a:ext cx="638175" cy="838200"/>
          </a:xfrm>
          <a:prstGeom prst="rect">
            <a:avLst/>
          </a:prstGeom>
          <a:noFill/>
        </p:spPr>
      </p:pic>
      <p:graphicFrame>
        <p:nvGraphicFramePr>
          <p:cNvPr id="207517150" name="Таблица 1"/>
          <p:cNvGraphicFramePr>
            <a:graphicFrameLocks xmlns:a="http://schemas.openxmlformats.org/drawingml/2006/main" noGrp="1"/>
          </p:cNvGraphicFramePr>
          <p:nvPr/>
        </p:nvGraphicFramePr>
        <p:xfrm rot="0">
          <a:off x="1252538" y="1125538"/>
          <a:ext cx="7783512" cy="128016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289080"/>
                <a:gridCol w="5494432"/>
              </a:tblGrid>
              <a:tr h="319881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Направление подготовки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 b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09.03.01 Информатика и вычислительная техника</a:t>
                      </a:r>
                      <a:endParaRPr sz="1100" b="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</a:tr>
              <a:tr h="319881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Направленность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Автоматизированные системы обработки информации и управления</a:t>
                      </a:r>
                      <a:endParaRPr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</a:tr>
              <a:tr h="319881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Факультет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Информационных технологий и управления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</a:tr>
              <a:tr h="319881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Кафедра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140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Систем автоматизированного проектирования и управления</a:t>
                      </a:r>
                      <a:endParaRPr lang="ru-RU" sz="1100">
                        <a:solidFill>
                          <a:schemeClr val="tx1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2" marR="68582" marT="0" marB="0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376519" name="Rectangle 2"/>
          <p:cNvSpPr txBox="1">
            <a:spLocks noChangeShapeType="1" noGrp="1"/>
          </p:cNvSpPr>
          <p:nvPr/>
        </p:nvSpPr>
        <p:spPr bwMode="auto">
          <a:xfrm>
            <a:off x="539750" y="6308725"/>
            <a:ext cx="7920037" cy="404812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565092609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2" y="6348412"/>
            <a:ext cx="611187" cy="509587"/>
          </a:xfrm>
          <a:prstGeom prst="rect">
            <a:avLst/>
          </a:prstGeom>
          <a:noFill/>
        </p:spPr>
      </p:pic>
      <p:sp>
        <p:nvSpPr>
          <p:cNvPr id="1375792128" name="Rectangle 2"/>
          <p:cNvSpPr txBox="1">
            <a:spLocks noChangeShapeType="1" noGrp="1"/>
          </p:cNvSpPr>
          <p:nvPr/>
        </p:nvSpPr>
        <p:spPr bwMode="auto">
          <a:xfrm>
            <a:off x="3811587" y="5864225"/>
            <a:ext cx="5332412" cy="404812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</a:t>
            </a: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 / </a:t>
            </a:r>
            <a:r>
              <a:rPr lang="ru-RU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20</a:t>
            </a:r>
            <a:endParaRPr/>
          </a:p>
        </p:txBody>
      </p:sp>
      <p:pic>
        <p:nvPicPr>
          <p:cNvPr id="944783863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2"/>
            <a:ext cx="422275" cy="554037"/>
          </a:xfrm>
          <a:prstGeom prst="rect">
            <a:avLst/>
          </a:prstGeom>
          <a:noFill/>
        </p:spPr>
      </p:pic>
      <p:pic>
        <p:nvPicPr>
          <p:cNvPr id="77370308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08764" y="1723542"/>
            <a:ext cx="7182007" cy="3650654"/>
          </a:xfrm>
          <a:prstGeom prst="rect">
            <a:avLst/>
          </a:prstGeom>
        </p:spPr>
      </p:pic>
      <p:sp>
        <p:nvSpPr>
          <p:cNvPr id="2007957768" name=""/>
          <p:cNvSpPr txBox="1"/>
          <p:nvPr/>
        </p:nvSpPr>
        <p:spPr bwMode="auto">
          <a:xfrm rot="0" flipH="0" flipV="0">
            <a:off x="1711816" y="445215"/>
            <a:ext cx="557590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lvl="0" indent="0">
              <a:spcBef>
                <a:spcPts val="0"/>
              </a:spcBef>
              <a:buNone/>
              <a:defRPr/>
            </a:pPr>
            <a:r>
              <a:rPr lang="ru-RU" sz="1800" b="1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Сравнительная характеристика систем-аналогов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029128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2058449950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2024490533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2</a:t>
            </a: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 / 20</a:t>
            </a:r>
            <a:endParaRPr/>
          </a:p>
        </p:txBody>
      </p:sp>
      <p:pic>
        <p:nvPicPr>
          <p:cNvPr id="1168209266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443289067" name=""/>
          <p:cNvSpPr txBox="1"/>
          <p:nvPr/>
        </p:nvSpPr>
        <p:spPr bwMode="auto">
          <a:xfrm rot="0" flipH="0" flipV="0">
            <a:off x="2646839" y="410710"/>
            <a:ext cx="371642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Варианты сортировки матрицы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1919710142" name=""/>
          <p:cNvSpPr/>
          <p:nvPr/>
        </p:nvSpPr>
        <p:spPr bwMode="auto">
          <a:xfrm flipH="0" flipV="0">
            <a:off x="1207923" y="1446611"/>
            <a:ext cx="7135650" cy="33836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а) сортировать каждую строку независимо, 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б) сортировать каждый столбец независимо, 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sz="22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в) преобразовать матрицу в одномерную последовательность, отсортировать её, затем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преобразовать её обратно в матрицу, 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г) расставить  строки  в  отсортированном  порядке,  относительно  поэлементного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сравнения строк, не изменяя сами строки, </a:t>
            </a:r>
            <a:endParaRPr sz="2200"/>
          </a:p>
          <a:p>
            <a:pPr>
              <a:defRPr/>
            </a:pPr>
            <a:endParaRPr sz="22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д) расставить  столбцы  в  отсортированном  порядке,  относительно  поэлементного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сравнения столбцов, не изменяя сами столбцы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923207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992799152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345845411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3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679608643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758240808" name=""/>
          <p:cNvSpPr txBox="1"/>
          <p:nvPr/>
        </p:nvSpPr>
        <p:spPr bwMode="auto">
          <a:xfrm rot="0" flipH="0" flipV="0">
            <a:off x="2646839" y="410710"/>
            <a:ext cx="41096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Язык </a:t>
            </a:r>
            <a:r>
              <a:rPr lang="en-US" b="1">
                <a:latin typeface="Times New Roman"/>
                <a:ea typeface="Times New Roman"/>
                <a:cs typeface="Times New Roman"/>
              </a:rPr>
              <a:t>C++ </a:t>
            </a:r>
            <a:r>
              <a:rPr lang="ru-RU" b="1">
                <a:latin typeface="Times New Roman"/>
                <a:ea typeface="Times New Roman"/>
                <a:cs typeface="Times New Roman"/>
              </a:rPr>
              <a:t>и среда разработки </a:t>
            </a:r>
            <a:r>
              <a:rPr lang="en-US" b="1">
                <a:latin typeface="Times New Roman"/>
                <a:ea typeface="Times New Roman"/>
                <a:cs typeface="Times New Roman"/>
              </a:rPr>
              <a:t>CLion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688265011" name=""/>
          <p:cNvSpPr/>
          <p:nvPr/>
        </p:nvSpPr>
        <p:spPr bwMode="auto">
          <a:xfrm flipH="0" flipV="0">
            <a:off x="5520193" y="1677798"/>
            <a:ext cx="2474772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CLion</a:t>
            </a:r>
            <a:endParaRPr/>
          </a:p>
        </p:txBody>
      </p:sp>
      <p:sp>
        <p:nvSpPr>
          <p:cNvPr id="220992468" name=""/>
          <p:cNvSpPr txBox="1"/>
          <p:nvPr/>
        </p:nvSpPr>
        <p:spPr bwMode="auto">
          <a:xfrm rot="0" flipH="0" flipV="0">
            <a:off x="1023302" y="1677798"/>
            <a:ext cx="190643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>
                <a:latin typeface="Times New Roman"/>
                <a:ea typeface="Times New Roman"/>
                <a:cs typeface="Times New Roman"/>
              </a:rPr>
              <a:t>C++</a:t>
            </a:r>
            <a:endParaRPr/>
          </a:p>
        </p:txBody>
      </p:sp>
      <p:sp>
        <p:nvSpPr>
          <p:cNvPr id="1062898642" name=""/>
          <p:cNvSpPr txBox="1"/>
          <p:nvPr/>
        </p:nvSpPr>
        <p:spPr bwMode="auto">
          <a:xfrm rot="0" flipH="0" flipV="0">
            <a:off x="4721055" y="2429311"/>
            <a:ext cx="3749891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Поддержка последних стандартов C++, </a:t>
            </a:r>
            <a:endParaRPr sz="2000"/>
          </a:p>
          <a:p>
            <a:pPr marL="239821" indent="-239821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Встроенная поддержка CMake</a:t>
            </a:r>
            <a:endParaRPr sz="2000"/>
          </a:p>
          <a:p>
            <a:pPr marL="239821" indent="-239821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Подсказки типов</a:t>
            </a:r>
            <a:endParaRPr sz="2000"/>
          </a:p>
          <a:p>
            <a:pPr marL="239821" indent="-239821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Бесплатная лицензия </a:t>
            </a:r>
            <a:endParaRPr/>
          </a:p>
        </p:txBody>
      </p:sp>
      <p:sp>
        <p:nvSpPr>
          <p:cNvPr id="1231865563" name=""/>
          <p:cNvSpPr txBox="1"/>
          <p:nvPr/>
        </p:nvSpPr>
        <p:spPr bwMode="auto">
          <a:xfrm rot="0" flipH="0" flipV="0">
            <a:off x="734931" y="2298233"/>
            <a:ext cx="3015513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buFont typeface="Arial"/>
              <a:buChar char="–"/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Низкий уровень</a:t>
            </a:r>
            <a:endParaRPr sz="1400">
              <a:latin typeface="Times New Roman"/>
              <a:cs typeface="Times New Roman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sz="1400">
                <a:latin typeface="Times New Roman"/>
                <a:ea typeface="Times New Roman"/>
                <a:cs typeface="Times New Roman"/>
              </a:rPr>
              <a:t>Управление памятью,</a:t>
            </a:r>
            <a:endParaRPr sz="1400">
              <a:latin typeface="Times New Roman"/>
              <a:cs typeface="Times New Roman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Объектно-ориентированность.</a:t>
            </a:r>
            <a:endParaRPr sz="1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239821" indent="-239821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Широкая поддержка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платформ,  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661784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291188665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849774387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4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333175692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973990804" name=""/>
          <p:cNvSpPr txBox="1"/>
          <p:nvPr/>
        </p:nvSpPr>
        <p:spPr bwMode="auto">
          <a:xfrm rot="0" flipH="0" flipV="0">
            <a:off x="2646839" y="410710"/>
            <a:ext cx="41146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Цель и задачи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483352387" name=""/>
          <p:cNvSpPr txBox="1"/>
          <p:nvPr/>
        </p:nvSpPr>
        <p:spPr bwMode="auto">
          <a:xfrm rot="0" flipH="0" flipV="0">
            <a:off x="3663192" y="1267086"/>
            <a:ext cx="5330731" cy="3993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Задачи: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а) изучить существующие алгоритмы сортировок, 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б) выполнить постановку задачи, 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в) составить формализованное описание процесса сортировки, разработать структуру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входных и выходных данных, 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г) разработать  алгоритм  (блок-схему)  для  сортировки матрицы  и  для  каждого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алгоритма сортировки, 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д) спроектировать структуру программного комплекса, 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е) разработать пользовательский интерфейс программного комплекса, 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ж) разработать программу, реализующую поставленную задачу, </a:t>
            </a:r>
            <a:endParaRPr sz="1600"/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з) протестировать работоспособность программного обеспечения. </a:t>
            </a:r>
            <a:endParaRPr sz="1600"/>
          </a:p>
          <a:p>
            <a:pPr marL="239821" indent="-239821">
              <a:buFont typeface="Arial"/>
              <a:buChar char="–"/>
              <a:defRPr/>
            </a:pPr>
            <a:endParaRPr sz="1600"/>
          </a:p>
        </p:txBody>
      </p:sp>
      <p:sp>
        <p:nvSpPr>
          <p:cNvPr id="511545577" name=""/>
          <p:cNvSpPr txBox="1"/>
          <p:nvPr/>
        </p:nvSpPr>
        <p:spPr bwMode="auto">
          <a:xfrm rot="0" flipH="0" flipV="0">
            <a:off x="402866" y="1267086"/>
            <a:ext cx="2799570" cy="30178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Цель: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Проектирование  и  создание  прикладного  программного </a:t>
            </a:r>
            <a:endParaRPr sz="1600">
              <a:latin typeface="Times New Roman"/>
              <a:cs typeface="Times New Roman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комплекса,  использующего  полиморфизм  в  своей  основе,  позволяющего  решать  задачу </a:t>
            </a:r>
            <a:endParaRPr sz="1600">
              <a:latin typeface="Times New Roman"/>
              <a:cs typeface="Times New Roman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сортировки динамических матриц по заданному принципу, а также проводить сравнение </a:t>
            </a:r>
            <a:endParaRPr sz="1600">
              <a:latin typeface="Times New Roman"/>
              <a:cs typeface="Times New Roman"/>
            </a:endParaRPr>
          </a:p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методов сортировки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634114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461204665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99781371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5 </a:t>
            </a: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/ </a:t>
            </a: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500448994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760308405" name=""/>
          <p:cNvSpPr txBox="1"/>
          <p:nvPr/>
        </p:nvSpPr>
        <p:spPr bwMode="auto">
          <a:xfrm rot="0" flipH="0" flipV="0">
            <a:off x="2646839" y="410710"/>
            <a:ext cx="41308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>
                <a:latin typeface="Times New Roman"/>
                <a:cs typeface="Times New Roman"/>
              </a:rPr>
              <a:t>Формализованное описание процесса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256953927" name=""/>
          <p:cNvSpPr/>
          <p:nvPr/>
        </p:nvSpPr>
        <p:spPr bwMode="auto">
          <a:xfrm flipH="0" flipV="0">
            <a:off x="776437" y="3256426"/>
            <a:ext cx="2748938" cy="24692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Где: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200" b="0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N×M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исходная матрица,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 – количество строк матрицы,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 – количество столбцов матрицы,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method – алгоритм сортировки: 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 пузырьковая сортировка,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 сортировка выбором,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 сортировка вставкой,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 сортировка Шелла,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 быстрая сортировка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A’</a:t>
            </a:r>
            <a:r>
              <a:rPr sz="1200" b="0" i="0" u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N×M 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отсортированная матрица,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 – количество перестановок, </a:t>
            </a:r>
            <a:endParaRPr sz="1800"/>
          </a:p>
          <a:p>
            <a:pPr>
              <a:defRPr/>
            </a:pP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 – количество сравнений.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/>
          </a:p>
        </p:txBody>
      </p:sp>
      <p:pic>
        <p:nvPicPr>
          <p:cNvPr id="120366567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1762124" y="1134340"/>
            <a:ext cx="6031942" cy="1727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764918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777587732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388475660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6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917536921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663488682" name=""/>
          <p:cNvSpPr txBox="1"/>
          <p:nvPr/>
        </p:nvSpPr>
        <p:spPr bwMode="auto">
          <a:xfrm rot="0" flipH="0" flipV="0">
            <a:off x="2646839" y="410710"/>
            <a:ext cx="411649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Постановка задачи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189622337" name=""/>
          <p:cNvSpPr txBox="1"/>
          <p:nvPr/>
        </p:nvSpPr>
        <p:spPr bwMode="auto">
          <a:xfrm rot="0" flipH="0" flipV="0">
            <a:off x="734931" y="2298233"/>
            <a:ext cx="6944514" cy="1067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 введенной матрицы путем варьирования алгоритмов, получить отсортированную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матрицу,  выявить  наиболее  оптимальный  метод.  Под наиболее  оптимальным  будем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понимать  тот  алгоритм,  используя  который сумма  сравнений  и  перестановок  будет </a:t>
            </a:r>
            <a:r>
              <a:rPr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минимальна. </a:t>
            </a:r>
            <a:endParaRPr sz="2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98062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381266471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241859522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7 / 20</a:t>
            </a:r>
            <a:endParaRPr/>
          </a:p>
        </p:txBody>
      </p:sp>
      <p:pic>
        <p:nvPicPr>
          <p:cNvPr id="1204055801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271239899" name=""/>
          <p:cNvSpPr txBox="1"/>
          <p:nvPr/>
        </p:nvSpPr>
        <p:spPr bwMode="auto">
          <a:xfrm rot="0" flipH="0" flipV="0">
            <a:off x="2646839" y="410710"/>
            <a:ext cx="411865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Функциональная структура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69781207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48805" y="996192"/>
            <a:ext cx="5270229" cy="3880730"/>
          </a:xfrm>
          <a:prstGeom prst="rect">
            <a:avLst/>
          </a:prstGeom>
        </p:spPr>
      </p:pic>
      <p:sp>
        <p:nvSpPr>
          <p:cNvPr id="59562719" name=""/>
          <p:cNvSpPr txBox="1"/>
          <p:nvPr/>
        </p:nvSpPr>
        <p:spPr bwMode="auto">
          <a:xfrm rot="0" flipH="0" flipV="0">
            <a:off x="5459684" y="2346723"/>
            <a:ext cx="3378720" cy="2530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Где:</a:t>
            </a:r>
            <a:endParaRPr sz="16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1600" baseline="-25000">
                <a:latin typeface="Times New Roman"/>
                <a:ea typeface="Times New Roman"/>
                <a:cs typeface="Times New Roman"/>
              </a:rPr>
              <a:t>N</a:t>
            </a:r>
            <a:r>
              <a:rPr sz="1600" baseline="-25000">
                <a:latin typeface="Times New Roman"/>
                <a:ea typeface="Times New Roman"/>
                <a:cs typeface="Times New Roman"/>
              </a:rPr>
              <a:t>×</a:t>
            </a:r>
            <a:r>
              <a:rPr lang="en-US" sz="1600" baseline="-25000">
                <a:latin typeface="Times New Roman"/>
                <a:ea typeface="Times New Roman"/>
                <a:cs typeface="Times New Roman"/>
              </a:rPr>
              <a:t>M</a:t>
            </a:r>
            <a:r>
              <a:rPr sz="1600" baseline="-2500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– исходная матрица,</a:t>
            </a:r>
            <a:endParaRPr sz="16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>
                <a:latin typeface="Times New Roman"/>
                <a:ea typeface="Times New Roman"/>
                <a:cs typeface="Times New Roman"/>
              </a:rPr>
              <a:t>N</a:t>
            </a:r>
            <a:r>
              <a:rPr sz="1600">
                <a:latin typeface="Times New Roman"/>
                <a:ea typeface="Times New Roman"/>
                <a:cs typeface="Times New Roman"/>
              </a:rPr>
              <a:t> – количество строк матрицы,</a:t>
            </a:r>
            <a:endParaRPr sz="16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>
                <a:latin typeface="Times New Roman"/>
                <a:ea typeface="Times New Roman"/>
                <a:cs typeface="Times New Roman"/>
              </a:rPr>
              <a:t>M</a:t>
            </a:r>
            <a:r>
              <a:rPr sz="1600">
                <a:latin typeface="Times New Roman"/>
                <a:ea typeface="Times New Roman"/>
                <a:cs typeface="Times New Roman"/>
              </a:rPr>
              <a:t> – количество столбцов матрицы,</a:t>
            </a:r>
            <a:endParaRPr sz="16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>
                <a:latin typeface="Times New Roman"/>
                <a:ea typeface="Times New Roman"/>
                <a:cs typeface="Times New Roman"/>
              </a:rPr>
              <a:t>E</a:t>
            </a:r>
            <a:r>
              <a:rPr sz="1600">
                <a:latin typeface="Times New Roman"/>
                <a:ea typeface="Times New Roman"/>
                <a:cs typeface="Times New Roman"/>
              </a:rPr>
              <a:t> – вектор сообщений об ошибках,</a:t>
            </a:r>
            <a:endParaRPr sz="16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>
                <a:latin typeface="Times New Roman"/>
                <a:ea typeface="Times New Roman"/>
                <a:cs typeface="Times New Roman"/>
              </a:rPr>
              <a:t>A</a:t>
            </a:r>
            <a:r>
              <a:rPr sz="1600">
                <a:latin typeface="Times New Roman"/>
                <a:ea typeface="Times New Roman"/>
                <a:cs typeface="Times New Roman"/>
              </a:rPr>
              <a:t>’</a:t>
            </a:r>
            <a:r>
              <a:rPr lang="en-US" sz="1600" baseline="-25000">
                <a:latin typeface="Times New Roman"/>
                <a:ea typeface="Times New Roman"/>
                <a:cs typeface="Times New Roman"/>
              </a:rPr>
              <a:t>N</a:t>
            </a:r>
            <a:r>
              <a:rPr sz="1600" baseline="-25000">
                <a:latin typeface="Times New Roman"/>
                <a:ea typeface="Times New Roman"/>
                <a:cs typeface="Times New Roman"/>
              </a:rPr>
              <a:t>×</a:t>
            </a:r>
            <a:r>
              <a:rPr lang="en-US" sz="1600" baseline="-25000">
                <a:latin typeface="Times New Roman"/>
                <a:ea typeface="Times New Roman"/>
                <a:cs typeface="Times New Roman"/>
              </a:rPr>
              <a:t>M</a:t>
            </a:r>
            <a:r>
              <a:rPr sz="1600">
                <a:latin typeface="Times New Roman"/>
                <a:ea typeface="Times New Roman"/>
                <a:cs typeface="Times New Roman"/>
              </a:rPr>
              <a:t> – отсортированная матрица,</a:t>
            </a:r>
            <a:endParaRPr sz="16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>
                <a:latin typeface="Times New Roman"/>
                <a:ea typeface="Times New Roman"/>
                <a:cs typeface="Times New Roman"/>
              </a:rPr>
              <a:t>S</a:t>
            </a:r>
            <a:r>
              <a:rPr sz="1600">
                <a:latin typeface="Times New Roman"/>
                <a:ea typeface="Times New Roman"/>
                <a:cs typeface="Times New Roman"/>
              </a:rPr>
              <a:t> – вектор количества перестановок для каждого алгоритма,</a:t>
            </a:r>
            <a:endParaRPr sz="1600"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en-US" sz="1600">
                <a:latin typeface="Times New Roman"/>
                <a:ea typeface="Times New Roman"/>
                <a:cs typeface="Times New Roman"/>
              </a:rPr>
              <a:t>C</a:t>
            </a:r>
            <a:r>
              <a:rPr sz="1600">
                <a:latin typeface="Times New Roman"/>
                <a:ea typeface="Times New Roman"/>
                <a:cs typeface="Times New Roman"/>
              </a:rPr>
              <a:t> – вектор количества сравнений для каждого алгоритма.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639219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18009419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173459998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8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772396009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596167616" name=""/>
          <p:cNvSpPr txBox="1"/>
          <p:nvPr/>
        </p:nvSpPr>
        <p:spPr bwMode="auto">
          <a:xfrm rot="0" flipH="0" flipV="0">
            <a:off x="1908475" y="497301"/>
            <a:ext cx="518258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Блок-схема алгоритма сортировки матрицы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477224942" name=""/>
          <p:cNvPicPr>
            <a:picLocks noChangeAspect="1"/>
          </p:cNvPicPr>
          <p:nvPr/>
        </p:nvPicPr>
        <p:blipFill rotWithShape="1">
          <a:blip r:embed="rId5"/>
          <a:srcRect l="0" t="0" r="48070" b="0"/>
          <a:stretch/>
        </p:blipFill>
        <p:spPr bwMode="auto">
          <a:xfrm rot="0" flipH="0" flipV="0">
            <a:off x="2206962" y="863421"/>
            <a:ext cx="4549537" cy="47137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901729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826304766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552681911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9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776176032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701847752" name=""/>
          <p:cNvSpPr txBox="1"/>
          <p:nvPr/>
        </p:nvSpPr>
        <p:spPr bwMode="auto">
          <a:xfrm rot="0" flipH="0" flipV="0">
            <a:off x="1908475" y="497301"/>
            <a:ext cx="519014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Структура интерфейсов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123405016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2788227" y="1328737"/>
            <a:ext cx="3876674" cy="4200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8947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869537037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489940418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10 / 20</a:t>
            </a:r>
            <a:endParaRPr/>
          </a:p>
        </p:txBody>
      </p:sp>
      <p:pic>
        <p:nvPicPr>
          <p:cNvPr id="1731379008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65895686" name=""/>
          <p:cNvSpPr txBox="1"/>
          <p:nvPr/>
        </p:nvSpPr>
        <p:spPr bwMode="auto">
          <a:xfrm rot="0" flipH="0" flipV="0">
            <a:off x="1908475" y="497301"/>
            <a:ext cx="519698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Интерфейс программы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145434973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1576840" y="2062530"/>
            <a:ext cx="6250111" cy="2732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336462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977642783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507947577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11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415685270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074363306" name=""/>
          <p:cNvSpPr txBox="1"/>
          <p:nvPr/>
        </p:nvSpPr>
        <p:spPr bwMode="auto">
          <a:xfrm rot="0" flipH="0" flipV="0">
            <a:off x="1908475" y="497301"/>
            <a:ext cx="520130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Переменные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27454943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508435" y="863421"/>
            <a:ext cx="4261159" cy="49769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673138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869289940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764900276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12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389563692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863705592" name=""/>
          <p:cNvSpPr txBox="1"/>
          <p:nvPr/>
        </p:nvSpPr>
        <p:spPr bwMode="auto">
          <a:xfrm rot="0" flipH="0" flipV="0">
            <a:off x="1908475" y="497301"/>
            <a:ext cx="520850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Модули и функции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16631414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763954" y="1031009"/>
            <a:ext cx="5471627" cy="49236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442702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673068997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987167062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13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2011122370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262208832" name=""/>
          <p:cNvSpPr txBox="1"/>
          <p:nvPr/>
        </p:nvSpPr>
        <p:spPr bwMode="auto">
          <a:xfrm rot="0" flipH="0" flipV="0">
            <a:off x="1908475" y="497301"/>
            <a:ext cx="521066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Классы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121839747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2210046" y="1349663"/>
            <a:ext cx="4607522" cy="4345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649787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651121172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456905810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14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726796014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817712910" name=""/>
          <p:cNvSpPr txBox="1"/>
          <p:nvPr/>
        </p:nvSpPr>
        <p:spPr bwMode="auto">
          <a:xfrm rot="0" flipH="0" flipV="0">
            <a:off x="1908475" y="497301"/>
            <a:ext cx="521858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Структура наследования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4903117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3382302" y="1387278"/>
            <a:ext cx="2234931" cy="3940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834758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965865544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357724801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15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744772799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262707842" name=""/>
          <p:cNvSpPr txBox="1"/>
          <p:nvPr/>
        </p:nvSpPr>
        <p:spPr bwMode="auto">
          <a:xfrm rot="0" flipH="0" flipV="0">
            <a:off x="1908475" y="497301"/>
            <a:ext cx="522650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Тестирование программы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31596625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1055114" y="953631"/>
            <a:ext cx="3009044" cy="4910592"/>
          </a:xfrm>
          <a:prstGeom prst="rect">
            <a:avLst/>
          </a:prstGeom>
        </p:spPr>
      </p:pic>
      <p:pic>
        <p:nvPicPr>
          <p:cNvPr id="188550683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rot="0" flipH="0" flipV="0">
            <a:off x="909204" y="5864224"/>
            <a:ext cx="2619374" cy="276224"/>
          </a:xfrm>
          <a:prstGeom prst="rect">
            <a:avLst/>
          </a:prstGeom>
        </p:spPr>
      </p:pic>
      <p:pic>
        <p:nvPicPr>
          <p:cNvPr id="830553487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rot="0" flipH="0" flipV="0">
            <a:off x="4216089" y="1030431"/>
            <a:ext cx="4815340" cy="1431991"/>
          </a:xfrm>
          <a:prstGeom prst="rect">
            <a:avLst/>
          </a:prstGeom>
        </p:spPr>
      </p:pic>
      <p:pic>
        <p:nvPicPr>
          <p:cNvPr id="1406539837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rot="0" flipH="0" flipV="0">
            <a:off x="4216089" y="2519795"/>
            <a:ext cx="2524124" cy="352424"/>
          </a:xfrm>
          <a:prstGeom prst="rect">
            <a:avLst/>
          </a:prstGeom>
        </p:spPr>
      </p:pic>
      <p:pic>
        <p:nvPicPr>
          <p:cNvPr id="1791597749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rot="0" flipH="0" flipV="0">
            <a:off x="4216089" y="3489613"/>
            <a:ext cx="4860347" cy="1428749"/>
          </a:xfrm>
          <a:prstGeom prst="rect">
            <a:avLst/>
          </a:prstGeom>
        </p:spPr>
      </p:pic>
      <p:pic>
        <p:nvPicPr>
          <p:cNvPr id="1987535353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rot="0" flipH="0" flipV="0">
            <a:off x="4216089" y="4987636"/>
            <a:ext cx="1828800" cy="923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060389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754918581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601127818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16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696509959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627590880" name=""/>
          <p:cNvSpPr txBox="1"/>
          <p:nvPr/>
        </p:nvSpPr>
        <p:spPr bwMode="auto">
          <a:xfrm rot="0" flipH="0" flipV="0">
            <a:off x="1908475" y="497301"/>
            <a:ext cx="524090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Структура программного обеспечения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48529988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2844200" y="1039090"/>
            <a:ext cx="3166094" cy="46669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288214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858930447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40006016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17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25438148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764954651" name=""/>
          <p:cNvSpPr txBox="1"/>
          <p:nvPr/>
        </p:nvSpPr>
        <p:spPr bwMode="auto">
          <a:xfrm rot="0" flipH="0" flipV="0">
            <a:off x="1908475" y="497301"/>
            <a:ext cx="525566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Характеристика программного обеспечения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170443789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485105" y="2066924"/>
            <a:ext cx="6029324" cy="272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854387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22075575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1849645510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18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576352367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151518216" name=""/>
          <p:cNvSpPr txBox="1"/>
          <p:nvPr/>
        </p:nvSpPr>
        <p:spPr bwMode="auto">
          <a:xfrm rot="0" flipH="0" flipV="0">
            <a:off x="1908475" y="497301"/>
            <a:ext cx="527150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Минимальные требования для запуска</a:t>
            </a:r>
            <a:endParaRPr b="1">
              <a:latin typeface="Times New Roman"/>
              <a:cs typeface="Times New Roman"/>
            </a:endParaRPr>
          </a:p>
        </p:txBody>
      </p:sp>
      <p:pic>
        <p:nvPicPr>
          <p:cNvPr id="131164947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557337" y="2190749"/>
            <a:ext cx="6029324" cy="2476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399829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279361548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2082144595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19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604149210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1295682802" name=""/>
          <p:cNvSpPr txBox="1"/>
          <p:nvPr/>
        </p:nvSpPr>
        <p:spPr bwMode="auto">
          <a:xfrm rot="0" flipH="0" flipV="0">
            <a:off x="1908475" y="497301"/>
            <a:ext cx="527798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Выводы по работе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1197089900" name=""/>
          <p:cNvSpPr/>
          <p:nvPr/>
        </p:nvSpPr>
        <p:spPr bwMode="auto">
          <a:xfrm>
            <a:off x="1544509" y="1109402"/>
            <a:ext cx="6057140" cy="33531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17793" indent="-217793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Разработан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программный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комплекс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сортировки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матриц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использованием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полиморфизма.</a:t>
            </a:r>
            <a:endParaRPr sz="2000"/>
          </a:p>
          <a:p>
            <a:pPr marL="217793" indent="-217793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Реализован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метод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сортировки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матрицы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методом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выравнивания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(четные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строкам,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нечетные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столбцам).</a:t>
            </a:r>
            <a:endParaRPr sz="2000"/>
          </a:p>
          <a:p>
            <a:pPr marL="217793" indent="-217793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Проведён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анализ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предметной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области: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матричные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вычисления,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виды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сортировки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сравнение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аналогов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(Excel,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Mathcad,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Scilab).</a:t>
            </a:r>
            <a:endParaRPr sz="2000"/>
          </a:p>
          <a:p>
            <a:pPr marL="217793" indent="-217793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Выявлена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потребность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собственном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комплексе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наглядной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демонстрации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полиморфизма.</a:t>
            </a:r>
            <a:endParaRPr sz="2000"/>
          </a:p>
          <a:p>
            <a:pPr marL="217793" indent="-217793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Сформализована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задача: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вход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матрица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(N×M);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выход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A'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указанным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порядком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элементов.</a:t>
            </a:r>
            <a:endParaRPr sz="2000"/>
          </a:p>
          <a:p>
            <a:pPr marL="217793" indent="-217793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Постановка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оптимизационной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задачи: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заданной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матрицы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подобрать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минимизирующие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или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получить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A'.</a:t>
            </a:r>
            <a:endParaRPr sz="2000"/>
          </a:p>
          <a:p>
            <a:pPr marL="217793" indent="-217793">
              <a:buFont typeface="Arial"/>
              <a:buChar char="–"/>
              <a:defRPr/>
            </a:pP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Спроектирована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функциональная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структура: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модули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сортировок,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вывода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результатов,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сбора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статистики,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работы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файлами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интерфейса.</a:t>
            </a:r>
            <a:endParaRPr/>
          </a:p>
          <a:p>
            <a:pPr marL="217793" indent="-217793">
              <a:buFont typeface="Arial"/>
              <a:buChar char="–"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255101" name="Rectangle 2"/>
          <p:cNvSpPr txBox="1">
            <a:spLocks noChangeShapeType="1" noGrp="1"/>
          </p:cNvSpPr>
          <p:nvPr/>
        </p:nvSpPr>
        <p:spPr bwMode="auto">
          <a:xfrm>
            <a:off x="539749" y="6308724"/>
            <a:ext cx="7920036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ru-RU" sz="1800" b="0" i="0" u="none" strike="noStrike" cap="none" spc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Программный комплекс для изучения основ полиморфизма на примере сортировки матриц</a:t>
            </a:r>
            <a:endParaRPr/>
          </a:p>
        </p:txBody>
      </p:sp>
      <p:pic>
        <p:nvPicPr>
          <p:cNvPr id="1152301156" name="Picture 6" descr="Логотип_САПРиУ"/>
          <p:cNvPicPr>
            <a:picLocks noChangeAspect="1" noGrp="1"/>
          </p:cNvPicPr>
          <p:nvPr/>
        </p:nvPicPr>
        <p:blipFill rotWithShape="1">
          <a:blip r:embed="rId3"/>
          <a:srcRect l="3538" t="10564" r="33616" b="36978"/>
          <a:stretch/>
        </p:blipFill>
        <p:spPr bwMode="auto">
          <a:xfrm>
            <a:off x="8532811" y="6348411"/>
            <a:ext cx="611186" cy="509586"/>
          </a:xfrm>
          <a:prstGeom prst="rect">
            <a:avLst/>
          </a:prstGeom>
          <a:noFill/>
        </p:spPr>
      </p:pic>
      <p:sp>
        <p:nvSpPr>
          <p:cNvPr id="669712358" name="Rectangle 2"/>
          <p:cNvSpPr txBox="1">
            <a:spLocks noChangeShapeType="1" noGrp="1"/>
          </p:cNvSpPr>
          <p:nvPr/>
        </p:nvSpPr>
        <p:spPr bwMode="auto">
          <a:xfrm>
            <a:off x="3811586" y="5864224"/>
            <a:ext cx="5332411" cy="404811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34290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700" b="1" i="0" u="none">
                <a:solidFill>
                  <a:schemeClr val="tx1"/>
                </a:solidFill>
                <a:latin typeface="Times New Roman"/>
                <a:ea typeface="Times New Roman"/>
              </a:rPr>
              <a:t>20 / 20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1674697394" name="Picture 6" descr="spbgti_logo.png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107949" y="6259511"/>
            <a:ext cx="422274" cy="554036"/>
          </a:xfrm>
          <a:prstGeom prst="rect">
            <a:avLst/>
          </a:prstGeom>
          <a:noFill/>
        </p:spPr>
      </p:pic>
      <p:sp>
        <p:nvSpPr>
          <p:cNvPr id="252157782" name=""/>
          <p:cNvSpPr txBox="1"/>
          <p:nvPr/>
        </p:nvSpPr>
        <p:spPr bwMode="auto">
          <a:xfrm rot="0" flipH="0" flipV="0">
            <a:off x="1908475" y="497301"/>
            <a:ext cx="527798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b="1">
                <a:latin typeface="Times New Roman"/>
                <a:ea typeface="Times New Roman"/>
                <a:cs typeface="Times New Roman"/>
              </a:rPr>
              <a:t>Выводы по работе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1250645826" name=""/>
          <p:cNvSpPr/>
          <p:nvPr/>
        </p:nvSpPr>
        <p:spPr bwMode="auto">
          <a:xfrm>
            <a:off x="1544509" y="1109402"/>
            <a:ext cx="6058940" cy="22253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217792" indent="-217792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Реализованы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пять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алгоритмов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сортировки: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пузырёк,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выбором,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вставками,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Шелла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быстрая.</a:t>
            </a:r>
            <a:endParaRPr sz="1400"/>
          </a:p>
          <a:p>
            <a:pPr marL="217792" indent="-217792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Добавлен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специализированный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алгоритм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для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требуемого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упорядочивания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четных/нечетных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элементов.</a:t>
            </a:r>
            <a:endParaRPr sz="1400"/>
          </a:p>
          <a:p>
            <a:pPr marL="217792" indent="-217792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Создан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консольный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интерфейс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вводом,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запуском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сортировок,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сохранением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матриц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модульными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тестами.</a:t>
            </a:r>
            <a:endParaRPr sz="1400"/>
          </a:p>
          <a:p>
            <a:pPr marL="217792" indent="-217792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Проведено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тестирование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корректности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реализованных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алгоритмов.</a:t>
            </a:r>
            <a:endParaRPr sz="1400"/>
          </a:p>
          <a:p>
            <a:pPr marL="217793" indent="-217793">
              <a:buFont typeface="Arial"/>
              <a:buChar char="–"/>
              <a:defRPr/>
            </a:pP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Комплекс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демонстрирует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полиморфизм,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обеспечивает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сортировку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динамических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матриц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сравнительный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анализ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эффективности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по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числу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сравнений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и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14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перестановок.</a:t>
            </a:r>
            <a:endParaRPr/>
          </a:p>
        </p:txBody>
      </p:sp>
      <p:sp>
        <p:nvSpPr>
          <p:cNvPr id="1344403989" name=""/>
          <p:cNvSpPr txBox="1"/>
          <p:nvPr/>
        </p:nvSpPr>
        <p:spPr bwMode="auto">
          <a:xfrm rot="0" flipH="0" flipV="0">
            <a:off x="1544509" y="3827318"/>
            <a:ext cx="4174945" cy="13109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Пути дальнейшего развития:</a:t>
            </a:r>
            <a:endParaRPr sz="1600">
              <a:latin typeface="Times New Roman"/>
              <a:ea typeface="Times New Roman"/>
              <a:cs typeface="Times New Roman"/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обработка трехмерных массивов данных, </a:t>
            </a:r>
            <a:endParaRPr sz="1600"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использование параллельных вычислений, </a:t>
            </a:r>
            <a:endParaRPr sz="1600"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использование </a:t>
            </a:r>
            <a:r>
              <a:rPr lang="en-US" sz="1600">
                <a:latin typeface="Times New Roman"/>
                <a:ea typeface="Times New Roman"/>
                <a:cs typeface="Times New Roman"/>
              </a:rPr>
              <a:t>GPU</a:t>
            </a:r>
            <a:r>
              <a:rPr sz="1600">
                <a:latin typeface="Times New Roman"/>
                <a:ea typeface="Times New Roman"/>
                <a:cs typeface="Times New Roman"/>
              </a:rPr>
              <a:t> </a:t>
            </a:r>
            <a:r>
              <a:rPr sz="1600">
                <a:latin typeface="Times New Roman"/>
                <a:ea typeface="Times New Roman"/>
                <a:cs typeface="Times New Roman"/>
              </a:rPr>
              <a:t>вычислений, </a:t>
            </a:r>
            <a:endParaRPr sz="1600">
              <a:latin typeface="Times New Roman"/>
              <a:cs typeface="Times New Roman"/>
            </a:endParaRPr>
          </a:p>
          <a:p>
            <a:pPr marL="283879" indent="-283879">
              <a:buFont typeface="Arial"/>
              <a:buChar char="–"/>
              <a:defRPr/>
            </a:pPr>
            <a:r>
              <a:rPr sz="1600">
                <a:latin typeface="Times New Roman"/>
                <a:ea typeface="Times New Roman"/>
                <a:cs typeface="Times New Roman"/>
              </a:rPr>
              <a:t>асинхронные вычисления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800080"/>
      </a:folHlink>
    </a:clrScheme>
    <a:fontScheme name="default">
      <a:majorFont>
        <a:latin typeface="Arial"/>
        <a:ea typeface="Arial"/>
        <a:cs typeface="Arial"/>
      </a:majorFont>
      <a:minorFont>
        <a:latin typeface="Calibri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Тема Offic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800080"/>
      </a:folHlink>
    </a:clrScheme>
    <a:fontScheme name="default">
      <a:majorFont>
        <a:latin typeface="Arial"/>
        <a:ea typeface="Arial"/>
        <a:cs typeface="Arial"/>
      </a:majorFont>
      <a:minorFont>
        <a:latin typeface="Calibri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/>
  <cp:revision>171</cp:revision>
  <dcterms:modified xsi:type="dcterms:W3CDTF">2026-06-09T04:26:04Z</dcterms:modified>
</cp:coreProperties>
</file>